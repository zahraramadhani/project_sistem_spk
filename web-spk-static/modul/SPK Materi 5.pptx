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93" r:id="rId6"/>
    <p:sldMasterId id="2147483689" r:id="rId7"/>
  </p:sldMasterIdLst>
  <p:sldIdLst>
    <p:sldId id="258" r:id="rId8"/>
    <p:sldId id="275" r:id="rId9"/>
    <p:sldId id="291" r:id="rId10"/>
    <p:sldId id="303" r:id="rId11"/>
    <p:sldId id="304" r:id="rId12"/>
    <p:sldId id="305" r:id="rId13"/>
    <p:sldId id="294" r:id="rId14"/>
    <p:sldId id="306" r:id="rId15"/>
    <p:sldId id="307" r:id="rId16"/>
    <p:sldId id="308" r:id="rId17"/>
    <p:sldId id="309" r:id="rId18"/>
    <p:sldId id="310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64" autoAdjust="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4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1204467"/>
            <a:ext cx="3127664" cy="2796033"/>
          </a:xfrm>
        </p:spPr>
        <p:txBody>
          <a:bodyPr>
            <a:normAutofit/>
          </a:bodyPr>
          <a:lstStyle/>
          <a:p>
            <a:r>
              <a:rPr lang="en-US" b="1" dirty="0"/>
              <a:t>SISTEM PENDUKUNG KEPUTUSAN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F1F463-831F-930D-6D1D-F53CAFF16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654" y="1204467"/>
            <a:ext cx="8825345" cy="5152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9274EA-6AC8-5C44-40C7-50DAE8016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6" r="61106" b="71280"/>
          <a:stretch/>
        </p:blipFill>
        <p:spPr>
          <a:xfrm>
            <a:off x="3366653" y="1204467"/>
            <a:ext cx="3917374" cy="1621859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0ED0E06D-93C7-E3DA-CE23-E2EF1E934607}"/>
              </a:ext>
            </a:extLst>
          </p:cNvPr>
          <p:cNvSpPr txBox="1">
            <a:spLocks/>
          </p:cNvSpPr>
          <p:nvPr/>
        </p:nvSpPr>
        <p:spPr>
          <a:xfrm>
            <a:off x="0" y="5653532"/>
            <a:ext cx="3678382" cy="703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0070C0"/>
                </a:solidFill>
              </a:rPr>
              <a:t>Kecitaan Harefa, </a:t>
            </a:r>
            <a:r>
              <a:rPr lang="en-US" sz="2000" b="1" dirty="0" err="1">
                <a:solidFill>
                  <a:srgbClr val="0070C0"/>
                </a:solidFill>
              </a:rPr>
              <a:t>S.Kom</a:t>
            </a:r>
            <a:r>
              <a:rPr lang="en-US" sz="2000" b="1" dirty="0">
                <a:solidFill>
                  <a:srgbClr val="0070C0"/>
                </a:solidFill>
              </a:rPr>
              <a:t>., </a:t>
            </a:r>
            <a:r>
              <a:rPr lang="en-US" sz="2000" b="1" dirty="0" err="1">
                <a:solidFill>
                  <a:srgbClr val="0070C0"/>
                </a:solidFill>
              </a:rPr>
              <a:t>M.Kom</a:t>
            </a:r>
            <a:r>
              <a:rPr lang="en-US" sz="2000" b="1" dirty="0">
                <a:solidFill>
                  <a:srgbClr val="0070C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D436C-BE08-BF5A-B6AE-DB3A86BB0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METODE WEIGHTED PRODUCT (WP)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9D9C3A8-44F5-247F-988F-93DEB6F59290}"/>
              </a:ext>
            </a:extLst>
          </p:cNvPr>
          <p:cNvSpPr txBox="1">
            <a:spLocks/>
          </p:cNvSpPr>
          <p:nvPr/>
        </p:nvSpPr>
        <p:spPr>
          <a:xfrm>
            <a:off x="2421081" y="1444336"/>
            <a:ext cx="9466117" cy="47486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Metode Weighted Product (WP)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salah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Attribute Decision Making (MADM) yang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menentukan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alternatif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terbaik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sejumlah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alternatif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ditentukan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Metode Weighted Product (WP)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perkalian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yang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dipangkatkan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bobot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bersesuaian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Ini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berbeda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SAW (Simple Additive Weighting) yang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penjumlahan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54DB769-717A-368D-28B3-209BCBF9DAAE}"/>
              </a:ext>
            </a:extLst>
          </p:cNvPr>
          <p:cNvSpPr txBox="1">
            <a:spLocks/>
          </p:cNvSpPr>
          <p:nvPr/>
        </p:nvSpPr>
        <p:spPr>
          <a:xfrm>
            <a:off x="1" y="2107117"/>
            <a:ext cx="28367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Pengertian</a:t>
            </a:r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9EFB70-C133-EA09-9E37-26D7E523D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43" y="3084997"/>
            <a:ext cx="1865376" cy="18653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6BD2BF-5607-0E54-4DAC-AA5BA5A70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892" b="79691"/>
          <a:stretch/>
        </p:blipFill>
        <p:spPr>
          <a:xfrm>
            <a:off x="1142585" y="4244574"/>
            <a:ext cx="894034" cy="37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86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9D479-6DFB-3F3D-0555-07063ADDC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DDB4-B785-B6D1-CE1E-CE2142BCD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METODE WEIGHTED PRODUCT (WP)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0EFC59-CC84-05D6-1CFB-DBEA1C655976}"/>
              </a:ext>
            </a:extLst>
          </p:cNvPr>
          <p:cNvSpPr txBox="1">
            <a:spLocks/>
          </p:cNvSpPr>
          <p:nvPr/>
        </p:nvSpPr>
        <p:spPr>
          <a:xfrm>
            <a:off x="2036619" y="1444336"/>
            <a:ext cx="9850580" cy="47486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Menentukan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alternatif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terbaik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Menghitung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preferensi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memperhatikan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kepentingan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bobot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Cocok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Pendukung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Keputusan (SPK).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F15E7C-6396-D0C7-74D2-474F18D611BD}"/>
              </a:ext>
            </a:extLst>
          </p:cNvPr>
          <p:cNvSpPr txBox="1">
            <a:spLocks/>
          </p:cNvSpPr>
          <p:nvPr/>
        </p:nvSpPr>
        <p:spPr>
          <a:xfrm>
            <a:off x="1" y="2107117"/>
            <a:ext cx="28367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Tujuan</a:t>
            </a:r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435B69-FDDA-CF27-BA3E-111F39BD8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43" y="3548288"/>
            <a:ext cx="1865376" cy="18653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A561F9-9327-CED0-8FD5-4D63A7642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892" b="79691"/>
          <a:stretch/>
        </p:blipFill>
        <p:spPr>
          <a:xfrm>
            <a:off x="1142585" y="4680467"/>
            <a:ext cx="894034" cy="37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10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79DA1-087A-AFFF-D2E1-E0BB1845A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9450-1779-C06A-4A12-0C23E3C7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METODE WEIGHTED PRODUCT (WP)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A39BAE4-4B88-2A27-896C-1148D35DD850}"/>
              </a:ext>
            </a:extLst>
          </p:cNvPr>
          <p:cNvSpPr txBox="1">
            <a:spLocks/>
          </p:cNvSpPr>
          <p:nvPr/>
        </p:nvSpPr>
        <p:spPr>
          <a:xfrm>
            <a:off x="2576945" y="1444336"/>
            <a:ext cx="9310254" cy="474864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Alternatif</a:t>
            </a:r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 algn="just">
              <a:buFont typeface="Courier New" panose="02070309020205020404" pitchFamily="49" charset="0"/>
              <a:buChar char="o"/>
            </a:pP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Pilihan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dipilih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dianalisis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A1, A2, A3.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aspek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dijadikan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penilaian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bersifat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93763" indent="-457200" algn="just">
              <a:buFont typeface="Courier New" panose="02070309020205020404" pitchFamily="49" charset="0"/>
              <a:buChar char="o"/>
            </a:pP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 (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keuntungan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makin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besar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makin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misalnya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kecepatan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kapasitas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93763" indent="-457200" algn="just">
              <a:buFont typeface="Courier New" panose="02070309020205020404" pitchFamily="49" charset="0"/>
              <a:buChar char="o"/>
            </a:pP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(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biaya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makin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kecil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makin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misalnya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harga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39750" indent="-457200" algn="just">
              <a:buFont typeface="Wingdings" panose="05000000000000000000" pitchFamily="2" charset="2"/>
              <a:buChar char="ü"/>
            </a:pP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Bobot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(W)</a:t>
            </a:r>
          </a:p>
          <a:p>
            <a:pPr marL="987425" indent="-457200" algn="just">
              <a:buFont typeface="Courier New" panose="02070309020205020404" pitchFamily="49" charset="0"/>
              <a:buChar char="o"/>
            </a:pP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Tingkat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kepentingan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bobot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B214CD0-5A57-ED4E-CD7F-FFCC9D7F4185}"/>
              </a:ext>
            </a:extLst>
          </p:cNvPr>
          <p:cNvSpPr txBox="1">
            <a:spLocks/>
          </p:cNvSpPr>
          <p:nvPr/>
        </p:nvSpPr>
        <p:spPr>
          <a:xfrm>
            <a:off x="1" y="2107117"/>
            <a:ext cx="28367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Komponen</a:t>
            </a:r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6452BA-521F-EE59-CE18-6703B9863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43" y="3548288"/>
            <a:ext cx="1865376" cy="18653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919042-22BB-B83B-BFA6-91EB39816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892" b="79691"/>
          <a:stretch/>
        </p:blipFill>
        <p:spPr>
          <a:xfrm>
            <a:off x="1142585" y="4680467"/>
            <a:ext cx="894034" cy="37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830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86BF-C9E2-524D-A136-CEAC9526F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BE71-0362-4F6C-F269-C4028A29D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662781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METODE WEIGHTED PRODUCT (WP)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A55D1C-EAAB-F56B-1E03-03329B327F40}"/>
              </a:ext>
            </a:extLst>
          </p:cNvPr>
          <p:cNvSpPr txBox="1">
            <a:spLocks/>
          </p:cNvSpPr>
          <p:nvPr/>
        </p:nvSpPr>
        <p:spPr>
          <a:xfrm>
            <a:off x="2161309" y="1174173"/>
            <a:ext cx="9859448" cy="501880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Menentukan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Alternatif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endParaRPr lang="en-ID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Menyusun Tabel Keputusan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Menentukan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Bobot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Tiap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endParaRPr lang="en-ID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Menghitung Nilai Vektor S (Si)</a:t>
            </a:r>
          </a:p>
          <a:p>
            <a:pPr algn="just"/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Keterangan</a:t>
            </a:r>
          </a:p>
          <a:p>
            <a:pPr marL="446088" algn="just"/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=Nilai preferensi total dari alternatif ke-i sebelum normalisasi</a:t>
            </a:r>
          </a:p>
          <a:p>
            <a:pPr marL="446088" algn="just"/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xij = Nilai dari alternatif ke-i terhadap kriteria ke-j</a:t>
            </a:r>
          </a:p>
          <a:p>
            <a:pPr marL="446088" algn="just"/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wj = Bobot dari kriteria ke-j, hasil normalisasi dan penyesuaian</a:t>
            </a:r>
          </a:p>
          <a:p>
            <a:pPr marL="446088" algn="just"/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Jumlah total kriteria</a:t>
            </a:r>
          </a:p>
          <a:p>
            <a:pPr marL="446088" algn="just"/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∏ = </a:t>
            </a:r>
            <a:r>
              <a:rPr lang="sv-S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Tanda perkalian berurutan dari semua kriteria</a:t>
            </a:r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7BA1E0-2536-6696-753D-2FC2B9C82012}"/>
              </a:ext>
            </a:extLst>
          </p:cNvPr>
          <p:cNvSpPr txBox="1">
            <a:spLocks/>
          </p:cNvSpPr>
          <p:nvPr/>
        </p:nvSpPr>
        <p:spPr>
          <a:xfrm>
            <a:off x="1" y="2107117"/>
            <a:ext cx="28367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Langkah-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C94D7F-BA42-F43E-FC7B-AF33727E7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43" y="3548288"/>
            <a:ext cx="1865376" cy="18653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0710D3-B0DF-0E66-7787-452C5CC36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892" b="79691"/>
          <a:stretch/>
        </p:blipFill>
        <p:spPr>
          <a:xfrm>
            <a:off x="1142585" y="4680467"/>
            <a:ext cx="894034" cy="3788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BBEDEE-D273-877C-91FD-72969E8409E2}"/>
                  </a:ext>
                </a:extLst>
              </p:cNvPr>
              <p:cNvSpPr txBox="1"/>
              <p:nvPr/>
            </p:nvSpPr>
            <p:spPr>
              <a:xfrm>
                <a:off x="3117273" y="2686481"/>
                <a:ext cx="4135581" cy="11423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D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D" sz="24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en-ID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D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D" sz="24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D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ID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D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D" sz="24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ID" sz="2400" i="1">
                                  <a:latin typeface="Cambria Math" panose="02040503050406030204" pitchFamily="18" charset="0"/>
                                </a:rPr>
                                <m:t>𝑤𝑗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ID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BBEDEE-D273-877C-91FD-72969E840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273" y="2686481"/>
                <a:ext cx="4135581" cy="11423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682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3A99C-8F05-8465-20CD-A40BB8422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3290-C3B7-26B8-5589-11E468012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METODE WEIGHTED PRODUCT (WP)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22BBB9-0265-12CD-5788-63E3E4243E89}"/>
              </a:ext>
            </a:extLst>
          </p:cNvPr>
          <p:cNvSpPr txBox="1">
            <a:spLocks/>
          </p:cNvSpPr>
          <p:nvPr/>
        </p:nvSpPr>
        <p:spPr>
          <a:xfrm>
            <a:off x="2576945" y="1444336"/>
            <a:ext cx="9310254" cy="474864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nb-N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Menghitung Nilai Vektor V (Vi)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nb-NO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nb-NO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nb-NO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nb-N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Keterangan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nb-NO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39850" indent="-976313" algn="just"/>
            <a:r>
              <a:rPr lang="nb-N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nb-N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nb-N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Nilai preferensi akhir dari alternatif ke-i (sudah dinormalisasi)</a:t>
            </a:r>
          </a:p>
          <a:p>
            <a:pPr marL="363538" algn="just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= Nilai vektor S dari alternatif ke-i</a:t>
            </a:r>
          </a:p>
          <a:p>
            <a:pPr marL="363538" algn="just"/>
            <a:r>
              <a:rPr lang="nb-N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∑S</a:t>
            </a:r>
            <a:r>
              <a:rPr lang="nb-N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nb-N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Jumlah dari seluruh nilai vektor S</a:t>
            </a:r>
          </a:p>
          <a:p>
            <a:pPr marL="363538" algn="just"/>
            <a:r>
              <a:rPr lang="nb-N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   = Jumlah total alternatif</a:t>
            </a:r>
          </a:p>
          <a:p>
            <a:pPr algn="just"/>
            <a:endParaRPr lang="nb-NO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088" algn="just"/>
            <a:r>
              <a:rPr lang="nb-N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Nilai V</a:t>
            </a:r>
            <a:r>
              <a:rPr lang="nb-NO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nb-N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tertinggi adalah alternatif terbaik.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nb-NO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D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D1C3423-83DA-B9FA-AA19-5FE096665295}"/>
              </a:ext>
            </a:extLst>
          </p:cNvPr>
          <p:cNvSpPr txBox="1">
            <a:spLocks/>
          </p:cNvSpPr>
          <p:nvPr/>
        </p:nvSpPr>
        <p:spPr>
          <a:xfrm>
            <a:off x="1" y="2107117"/>
            <a:ext cx="28367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Langkah-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1AD424-98E7-B9A7-D2DD-E7EE78956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43" y="3548288"/>
            <a:ext cx="1865376" cy="18653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23BE12-C1FD-5BF2-1B97-D0114A17E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892" b="79691"/>
          <a:stretch/>
        </p:blipFill>
        <p:spPr>
          <a:xfrm>
            <a:off x="1142585" y="4680467"/>
            <a:ext cx="894034" cy="3788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0504AE-43F0-0A21-ADF1-AD7D4A2DC82C}"/>
                  </a:ext>
                </a:extLst>
              </p:cNvPr>
              <p:cNvSpPr txBox="1"/>
              <p:nvPr/>
            </p:nvSpPr>
            <p:spPr>
              <a:xfrm>
                <a:off x="2940628" y="1746493"/>
                <a:ext cx="4052454" cy="1001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D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D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D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D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sz="2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D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en-ID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D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D" sz="28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D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D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D" sz="2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ID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ID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0504AE-43F0-0A21-ADF1-AD7D4A2DC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0628" y="1746493"/>
                <a:ext cx="4052454" cy="10019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4236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91928-F136-22FD-7B1C-E1D3A99F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A8923-592A-3C48-83F3-9CBD9CEBA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50"/>
            <a:ext cx="10990118" cy="84254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 KASUS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40F80D-EE65-8C38-9214-B551A8AC0468}"/>
              </a:ext>
            </a:extLst>
          </p:cNvPr>
          <p:cNvSpPr txBox="1">
            <a:spLocks/>
          </p:cNvSpPr>
          <p:nvPr/>
        </p:nvSpPr>
        <p:spPr>
          <a:xfrm>
            <a:off x="238991" y="1205346"/>
            <a:ext cx="11648208" cy="5039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PT. ABADI JAYA ingin memilih supplier terbaik untuk pengadaan bahan baku. Ada 4 supplier yang menjadi kandidat: Supplier A, B, C, dan D. Pemilihan dilakukan berdasarkan 4 kriteria berikut:</a:t>
            </a:r>
          </a:p>
          <a:p>
            <a:pPr algn="just"/>
            <a:endParaRPr lang="fi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AutoNum type="arabicPeriod"/>
            </a:pP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Harga (C1) → Cost</a:t>
            </a:r>
          </a:p>
          <a:p>
            <a:pPr marL="514350" indent="-514350" algn="just">
              <a:buAutoNum type="arabicPeriod"/>
            </a:pP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Kualitas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Bahan (C2) → Benefit</a:t>
            </a:r>
          </a:p>
          <a:p>
            <a:pPr marL="514350" indent="-514350" algn="just">
              <a:buAutoNum type="arabicPeriod"/>
            </a:pP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Waktu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Pengiriman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(C3) → Cost</a:t>
            </a:r>
          </a:p>
          <a:p>
            <a:pPr marL="514350" indent="-514350" algn="just">
              <a:buAutoNum type="arabicPeriod"/>
            </a:pP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Pelayanan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Purna Jual (C4) → Benefit</a:t>
            </a:r>
          </a:p>
        </p:txBody>
      </p:sp>
    </p:spTree>
    <p:extLst>
      <p:ext uri="{BB962C8B-B14F-4D97-AF65-F5344CB8AC3E}">
        <p14:creationId xmlns:p14="http://schemas.microsoft.com/office/powerpoint/2010/main" val="2999038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D2DC1-1ED3-B7C5-F431-47037A564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99CDC-EB2E-0257-E8B2-55F3CCD2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 KASUS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C7A12E-3174-BBE7-638E-F718CDD3B7FE}"/>
              </a:ext>
            </a:extLst>
          </p:cNvPr>
          <p:cNvSpPr txBox="1">
            <a:spLocks/>
          </p:cNvSpPr>
          <p:nvPr/>
        </p:nvSpPr>
        <p:spPr>
          <a:xfrm>
            <a:off x="238991" y="1205345"/>
            <a:ext cx="11648208" cy="522662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Berikut adalah tabel penilaian masing-masing supplier:</a:t>
            </a:r>
          </a:p>
          <a:p>
            <a:pPr algn="just"/>
            <a:endParaRPr lang="fi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i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i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i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i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i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i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Bobot masing-masing kriteria:</a:t>
            </a:r>
          </a:p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Harga (C1): 0.4</a:t>
            </a:r>
          </a:p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Kualitas (C2): 0.3</a:t>
            </a:r>
          </a:p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Pengiriman (C3): 0.2</a:t>
            </a:r>
          </a:p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Purna Jual (C4): 0.1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AC5546-DE32-EFE3-3837-7B64D2711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94" y="1780404"/>
            <a:ext cx="8310997" cy="226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0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95535-6EC1-30B5-9985-EF436AA5B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9248-CFD4-F984-D40A-B8DA23D61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603551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PENYELESAIAN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51B94E-D351-A1EC-757C-5B3903144AA6}"/>
              </a:ext>
            </a:extLst>
          </p:cNvPr>
          <p:cNvSpPr txBox="1">
            <a:spLocks/>
          </p:cNvSpPr>
          <p:nvPr/>
        </p:nvSpPr>
        <p:spPr>
          <a:xfrm>
            <a:off x="238991" y="1205346"/>
            <a:ext cx="11648208" cy="5039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Jenis Kriteria:</a:t>
            </a:r>
          </a:p>
          <a:p>
            <a:pPr marL="893763" indent="-457200" algn="just">
              <a:buFont typeface="Wingdings" panose="05000000000000000000" pitchFamily="2" charset="2"/>
              <a:buChar char="ü"/>
            </a:pP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 (Harga): Cost → bobot negatif</a:t>
            </a:r>
          </a:p>
          <a:p>
            <a:pPr marL="893763" indent="-457200" algn="just">
              <a:buFont typeface="Wingdings" panose="05000000000000000000" pitchFamily="2" charset="2"/>
              <a:buChar char="ü"/>
            </a:pP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 (Kualitas): Benefit</a:t>
            </a:r>
          </a:p>
          <a:p>
            <a:pPr marL="893763" indent="-457200" algn="just">
              <a:buFont typeface="Wingdings" panose="05000000000000000000" pitchFamily="2" charset="2"/>
              <a:buChar char="ü"/>
            </a:pP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 (Pengiriman): Cost → bobot negatif</a:t>
            </a:r>
          </a:p>
          <a:p>
            <a:pPr marL="893763" indent="-457200" algn="just">
              <a:buFont typeface="Wingdings" panose="05000000000000000000" pitchFamily="2" charset="2"/>
              <a:buChar char="ü"/>
            </a:pP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C4 (Purna Jual): Benefit</a:t>
            </a:r>
          </a:p>
          <a:p>
            <a:pPr algn="just"/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Bobot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Akhir (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tanda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23D8BE-4B05-F76F-DDF6-A825C6D16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51" y="3965171"/>
            <a:ext cx="3720985" cy="220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794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C4664-7F5C-455D-6462-0623CBF7B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2BB2C-30AD-E7EC-25BE-C5B69B41F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603551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PENYELESAIAN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AE8C60-87E3-193C-C854-8DC8A6E27FAD}"/>
              </a:ext>
            </a:extLst>
          </p:cNvPr>
          <p:cNvSpPr txBox="1">
            <a:spLocks/>
          </p:cNvSpPr>
          <p:nvPr/>
        </p:nvSpPr>
        <p:spPr>
          <a:xfrm>
            <a:off x="238991" y="800100"/>
            <a:ext cx="11648208" cy="54448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Hitung nilai S untuk tiap supplier:</a:t>
            </a:r>
          </a:p>
          <a:p>
            <a:pPr algn="just"/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F9AA77-918A-BE62-9B7C-9545482DBF6D}"/>
                  </a:ext>
                </a:extLst>
              </p:cNvPr>
              <p:cNvSpPr txBox="1"/>
              <p:nvPr/>
            </p:nvSpPr>
            <p:spPr>
              <a:xfrm>
                <a:off x="5434446" y="498324"/>
                <a:ext cx="4135581" cy="11423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D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D" sz="24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en-ID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D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D" sz="24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D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ID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D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D" sz="24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ID" sz="2400" i="1">
                                  <a:latin typeface="Cambria Math" panose="02040503050406030204" pitchFamily="18" charset="0"/>
                                </a:rPr>
                                <m:t>𝑤𝑗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ID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F9AA77-918A-BE62-9B7C-9545482DB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446" y="498324"/>
                <a:ext cx="4135581" cy="11423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7DE8DD-881C-1225-AEAE-A3077DAFFAB6}"/>
                  </a:ext>
                </a:extLst>
              </p:cNvPr>
              <p:cNvSpPr txBox="1"/>
              <p:nvPr/>
            </p:nvSpPr>
            <p:spPr>
              <a:xfrm>
                <a:off x="737754" y="1535301"/>
                <a:ext cx="55106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D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ID" sz="28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D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sz="2800" i="0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  <m:sup>
                          <m:r>
                            <a:rPr lang="en-ID" sz="2800" i="0">
                              <a:latin typeface="Cambria Math" panose="02040503050406030204" pitchFamily="18" charset="0"/>
                            </a:rPr>
                            <m:t>−0.4</m:t>
                          </m:r>
                        </m:sup>
                      </m:sSup>
                      <m:r>
                        <a:rPr lang="en-ID" sz="28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D" sz="2800" i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D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sz="2800" i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ID" sz="2800" i="0">
                              <a:latin typeface="Cambria Math" panose="02040503050406030204" pitchFamily="18" charset="0"/>
                            </a:rPr>
                            <m:t>0.3</m:t>
                          </m:r>
                        </m:sup>
                      </m:sSup>
                      <m:r>
                        <a:rPr lang="en-ID" sz="28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D" sz="2800" i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D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sz="2800" i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ID" sz="2800" i="0">
                              <a:latin typeface="Cambria Math" panose="02040503050406030204" pitchFamily="18" charset="0"/>
                            </a:rPr>
                            <m:t>−0.2</m:t>
                          </m:r>
                        </m:sup>
                      </m:sSup>
                      <m:r>
                        <a:rPr lang="en-ID" sz="28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D" sz="2800" i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D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sz="2800" i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  <m:sup>
                          <m:r>
                            <a:rPr lang="en-ID" sz="2800" i="0">
                              <a:latin typeface="Cambria Math" panose="02040503050406030204" pitchFamily="18" charset="0"/>
                            </a:rPr>
                            <m:t>0.1</m:t>
                          </m:r>
                        </m:sup>
                      </m:sSup>
                    </m:oMath>
                  </m:oMathPara>
                </a14:m>
                <a:endParaRPr lang="en-ID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7DE8DD-881C-1225-AEAE-A3077DAFF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54" y="1535301"/>
                <a:ext cx="551064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212ECA-7B62-4572-4CD1-3045D37874B5}"/>
                  </a:ext>
                </a:extLst>
              </p:cNvPr>
              <p:cNvSpPr txBox="1"/>
              <p:nvPr/>
            </p:nvSpPr>
            <p:spPr>
              <a:xfrm>
                <a:off x="1298863" y="1982629"/>
                <a:ext cx="78555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D" sz="28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D" sz="2800" i="0">
                          <a:latin typeface="Cambria Math" panose="02040503050406030204" pitchFamily="18" charset="0"/>
                        </a:rPr>
                        <m:t> 0.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2091 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1.8661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0.8027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1.2148=0.3806</m:t>
                      </m:r>
                    </m:oMath>
                  </m:oMathPara>
                </a14:m>
                <a:endParaRPr lang="en-ID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212ECA-7B62-4572-4CD1-3045D3787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863" y="1982629"/>
                <a:ext cx="785552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56B1E4-0CEE-AB09-B8AC-00E4A6322769}"/>
                  </a:ext>
                </a:extLst>
              </p:cNvPr>
              <p:cNvSpPr txBox="1"/>
              <p:nvPr/>
            </p:nvSpPr>
            <p:spPr>
              <a:xfrm>
                <a:off x="737753" y="2505849"/>
                <a:ext cx="55106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D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ID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−0.4</m:t>
                          </m:r>
                        </m:sup>
                      </m:sSup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D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  <m:sup>
                          <m:r>
                            <a:rPr lang="en-ID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0.3</m:t>
                          </m:r>
                        </m:sup>
                      </m:sSup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D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ID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−0.2</m:t>
                          </m:r>
                        </m:sup>
                      </m:sSup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D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ID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</m:sup>
                      </m:sSup>
                    </m:oMath>
                  </m:oMathPara>
                </a14:m>
                <a:endParaRPr lang="en-ID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56B1E4-0CEE-AB09-B8AC-00E4A6322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53" y="2505849"/>
                <a:ext cx="551064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CB2723-D54A-78FC-78C7-2A2208558E7D}"/>
                  </a:ext>
                </a:extLst>
              </p:cNvPr>
              <p:cNvSpPr txBox="1"/>
              <p:nvPr/>
            </p:nvSpPr>
            <p:spPr>
              <a:xfrm>
                <a:off x="1298863" y="2999298"/>
                <a:ext cx="78555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D" sz="28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D" sz="2800" i="0">
                          <a:latin typeface="Cambria Math" panose="02040503050406030204" pitchFamily="18" charset="0"/>
                        </a:rPr>
                        <m:t> 0.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2013 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1.9332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0.8706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1.962=0.4053</m:t>
                      </m:r>
                    </m:oMath>
                  </m:oMathPara>
                </a14:m>
                <a:endParaRPr lang="en-ID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CB2723-D54A-78FC-78C7-2A2208558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863" y="2999298"/>
                <a:ext cx="785552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E838FE-E4D2-5E93-9467-39259DD26D1D}"/>
                  </a:ext>
                </a:extLst>
              </p:cNvPr>
              <p:cNvSpPr txBox="1"/>
              <p:nvPr/>
            </p:nvSpPr>
            <p:spPr>
              <a:xfrm>
                <a:off x="737753" y="3522518"/>
                <a:ext cx="55106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D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48</m:t>
                          </m:r>
                        </m:e>
                        <m:sup>
                          <m:r>
                            <a:rPr lang="en-ID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−0.4</m:t>
                          </m:r>
                        </m:sup>
                      </m:sSup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D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  <m:sup>
                          <m:r>
                            <a:rPr lang="en-ID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0.3</m:t>
                          </m:r>
                        </m:sup>
                      </m:sSup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D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ID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−0.2</m:t>
                          </m:r>
                        </m:sup>
                      </m:sSup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D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ID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</m:sup>
                      </m:sSup>
                    </m:oMath>
                  </m:oMathPara>
                </a14:m>
                <a:endParaRPr lang="en-ID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E838FE-E4D2-5E93-9467-39259DD26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53" y="3522518"/>
                <a:ext cx="551064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CC1A61-25F8-FA4D-3D68-5A721B017F80}"/>
                  </a:ext>
                </a:extLst>
              </p:cNvPr>
              <p:cNvSpPr txBox="1"/>
              <p:nvPr/>
            </p:nvSpPr>
            <p:spPr>
              <a:xfrm>
                <a:off x="1298863" y="4015967"/>
                <a:ext cx="78555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D" sz="28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D" sz="2800" i="0">
                          <a:latin typeface="Cambria Math" panose="02040503050406030204" pitchFamily="18" charset="0"/>
                        </a:rPr>
                        <m:t> 0.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2126 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1.7928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0.7579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1.2311=0.3556</m:t>
                      </m:r>
                    </m:oMath>
                  </m:oMathPara>
                </a14:m>
                <a:endParaRPr lang="en-ID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CC1A61-25F8-FA4D-3D68-5A721B017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863" y="4015967"/>
                <a:ext cx="785552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6F9330-3011-927F-55E2-1A135792B0A9}"/>
                  </a:ext>
                </a:extLst>
              </p:cNvPr>
              <p:cNvSpPr txBox="1"/>
              <p:nvPr/>
            </p:nvSpPr>
            <p:spPr>
              <a:xfrm>
                <a:off x="737753" y="4539187"/>
                <a:ext cx="55106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D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53</m:t>
                          </m:r>
                        </m:e>
                        <m:sup>
                          <m:r>
                            <a:rPr lang="en-ID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−0.4</m:t>
                          </m:r>
                        </m:sup>
                      </m:sSup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D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ID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0.3</m:t>
                          </m:r>
                        </m:sup>
                      </m:sSup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D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ID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−0.2</m:t>
                          </m:r>
                        </m:sup>
                      </m:sSup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D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D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  <m:sup>
                          <m:r>
                            <a:rPr lang="en-ID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</m:sup>
                      </m:sSup>
                    </m:oMath>
                  </m:oMathPara>
                </a14:m>
                <a:endParaRPr lang="en-ID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6F9330-3011-927F-55E2-1A135792B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53" y="4539187"/>
                <a:ext cx="551064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0782F5-B740-CA5C-BAEE-532EF2424333}"/>
                  </a:ext>
                </a:extLst>
              </p:cNvPr>
              <p:cNvSpPr txBox="1"/>
              <p:nvPr/>
            </p:nvSpPr>
            <p:spPr>
              <a:xfrm>
                <a:off x="1298863" y="5032636"/>
                <a:ext cx="78555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D" sz="28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D" sz="2800" i="0">
                          <a:latin typeface="Cambria Math" panose="02040503050406030204" pitchFamily="18" charset="0"/>
                        </a:rPr>
                        <m:t> 0.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2043 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1.8661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0.8027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1.2457=0.3813</m:t>
                      </m:r>
                    </m:oMath>
                  </m:oMathPara>
                </a14:m>
                <a:endParaRPr lang="en-ID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0782F5-B740-CA5C-BAEE-532EF2424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863" y="5032636"/>
                <a:ext cx="7855528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9053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838D2-E45E-C2FA-8169-384842F6A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D72EE-C2B7-D59A-2976-D1840817C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603551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PENYELESAIAN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97377F-A8B7-724F-54F5-FC49BCEA5783}"/>
              </a:ext>
            </a:extLst>
          </p:cNvPr>
          <p:cNvSpPr txBox="1">
            <a:spLocks/>
          </p:cNvSpPr>
          <p:nvPr/>
        </p:nvSpPr>
        <p:spPr>
          <a:xfrm>
            <a:off x="238991" y="800100"/>
            <a:ext cx="11648208" cy="54448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Hitung nilai V (normalisasi preferensi):</a:t>
            </a:r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396674-426B-D34D-122C-D01433089163}"/>
                  </a:ext>
                </a:extLst>
              </p:cNvPr>
              <p:cNvSpPr txBox="1"/>
              <p:nvPr/>
            </p:nvSpPr>
            <p:spPr>
              <a:xfrm>
                <a:off x="6338455" y="533360"/>
                <a:ext cx="4052454" cy="1001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D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D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D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D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sz="2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D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en-ID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D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D" sz="28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D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D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D" sz="2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ID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ID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396674-426B-D34D-122C-D01433089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455" y="533360"/>
                <a:ext cx="4052454" cy="10019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36DF47-BA80-9A7E-4D3C-CEF54FD5C634}"/>
                  </a:ext>
                </a:extLst>
              </p:cNvPr>
              <p:cNvSpPr txBox="1"/>
              <p:nvPr/>
            </p:nvSpPr>
            <p:spPr>
              <a:xfrm>
                <a:off x="805292" y="1636131"/>
                <a:ext cx="945053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D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Total S = </a:t>
                </a:r>
                <a14:m>
                  <m:oMath xmlns:m="http://schemas.openxmlformats.org/officeDocument/2006/math">
                    <m:r>
                      <a:rPr lang="en-ID" sz="2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0.3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806</m:t>
                    </m:r>
                    <m:r>
                      <a:rPr lang="en-ID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+0.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4053</m:t>
                    </m:r>
                    <m:r>
                      <a:rPr lang="en-ID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+0.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35</m:t>
                    </m:r>
                    <m:r>
                      <a:rPr lang="en-ID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ID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+0.3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813</m:t>
                    </m:r>
                    <m:r>
                      <a:rPr lang="en-ID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5228</m:t>
                    </m:r>
                  </m:oMath>
                </a14:m>
                <a:endParaRPr lang="en-ID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36DF47-BA80-9A7E-4D3C-CEF54FD5C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92" y="1636131"/>
                <a:ext cx="9450533" cy="523220"/>
              </a:xfrm>
              <a:prstGeom prst="rect">
                <a:avLst/>
              </a:prstGeom>
              <a:blipFill>
                <a:blip r:embed="rId3"/>
                <a:stretch>
                  <a:fillRect l="-1290" t="-11628" b="-3139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986120-0D6C-A594-6909-A70B737FA7EA}"/>
                  </a:ext>
                </a:extLst>
              </p:cNvPr>
              <p:cNvSpPr txBox="1"/>
              <p:nvPr/>
            </p:nvSpPr>
            <p:spPr>
              <a:xfrm>
                <a:off x="805291" y="2109620"/>
                <a:ext cx="3860221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D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ID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D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D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806</m:t>
                          </m:r>
                          <m:r>
                            <a:rPr lang="en-ID" sz="2800" i="0">
                              <a:latin typeface="Cambria Math" panose="02040503050406030204" pitchFamily="18" charset="0"/>
                            </a:rPr>
                            <m:t>​</m:t>
                          </m:r>
                        </m:num>
                        <m:den>
                          <m:r>
                            <a:rPr lang="en-ID" sz="2800" i="0">
                              <a:latin typeface="Cambria Math" panose="02040503050406030204" pitchFamily="18" charset="0"/>
                            </a:rPr>
                            <m:t>1.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5228</m:t>
                          </m:r>
                        </m:den>
                      </m:f>
                      <m:r>
                        <a:rPr lang="en-ID" sz="2800" i="0">
                          <a:latin typeface="Cambria Math" panose="02040503050406030204" pitchFamily="18" charset="0"/>
                        </a:rPr>
                        <m:t>= 0.24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99</m:t>
                      </m:r>
                    </m:oMath>
                  </m:oMathPara>
                </a14:m>
                <a:endParaRPr lang="en-ID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986120-0D6C-A594-6909-A70B737FA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91" y="2109620"/>
                <a:ext cx="3860221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0DEC2D-E6D9-8F4A-56CF-E87E378FFFAC}"/>
                  </a:ext>
                </a:extLst>
              </p:cNvPr>
              <p:cNvSpPr txBox="1"/>
              <p:nvPr/>
            </p:nvSpPr>
            <p:spPr>
              <a:xfrm>
                <a:off x="805290" y="3104842"/>
                <a:ext cx="3860221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ID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D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D" sz="280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4053</m:t>
                          </m:r>
                        </m:num>
                        <m:den>
                          <m:r>
                            <a:rPr lang="en-ID" sz="2800">
                              <a:latin typeface="Cambria Math" panose="02040503050406030204" pitchFamily="18" charset="0"/>
                            </a:rPr>
                            <m:t>1.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5228</m:t>
                          </m:r>
                        </m:den>
                      </m:f>
                      <m:r>
                        <a:rPr lang="en-ID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D" sz="2800"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662</m:t>
                      </m:r>
                    </m:oMath>
                  </m:oMathPara>
                </a14:m>
                <a:endParaRPr lang="en-ID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0DEC2D-E6D9-8F4A-56CF-E87E378FF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90" y="3104842"/>
                <a:ext cx="3860221" cy="9017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986530-ADD1-F6B4-E521-6C21381C9740}"/>
                  </a:ext>
                </a:extLst>
              </p:cNvPr>
              <p:cNvSpPr txBox="1"/>
              <p:nvPr/>
            </p:nvSpPr>
            <p:spPr>
              <a:xfrm>
                <a:off x="805289" y="4057925"/>
                <a:ext cx="3860221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ID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D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D" sz="280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3556</m:t>
                          </m:r>
                        </m:num>
                        <m:den>
                          <m:r>
                            <a:rPr lang="en-ID" sz="2800">
                              <a:latin typeface="Cambria Math" panose="02040503050406030204" pitchFamily="18" charset="0"/>
                            </a:rPr>
                            <m:t>1.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5228</m:t>
                          </m:r>
                        </m:den>
                      </m:f>
                      <m:r>
                        <a:rPr lang="en-ID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D" sz="2800" i="1"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335</m:t>
                      </m:r>
                    </m:oMath>
                  </m:oMathPara>
                </a14:m>
                <a:endParaRPr lang="en-ID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986530-ADD1-F6B4-E521-6C21381C9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9" y="4057925"/>
                <a:ext cx="3860221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8B47E99-0745-B832-9DA3-986419D021D1}"/>
                  </a:ext>
                </a:extLst>
              </p:cNvPr>
              <p:cNvSpPr txBox="1"/>
              <p:nvPr/>
            </p:nvSpPr>
            <p:spPr>
              <a:xfrm>
                <a:off x="805289" y="5090337"/>
                <a:ext cx="3860221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ID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D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D" sz="2800">
                              <a:latin typeface="Cambria Math" panose="02040503050406030204" pitchFamily="18" charset="0"/>
                            </a:rPr>
                            <m:t>0.3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813</m:t>
                          </m:r>
                        </m:num>
                        <m:den>
                          <m:r>
                            <a:rPr lang="en-ID" sz="2800">
                              <a:latin typeface="Cambria Math" panose="02040503050406030204" pitchFamily="18" charset="0"/>
                            </a:rPr>
                            <m:t>1.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5228</m:t>
                          </m:r>
                        </m:den>
                      </m:f>
                      <m:r>
                        <a:rPr lang="en-ID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D" sz="2800" i="1"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504</m:t>
                      </m:r>
                    </m:oMath>
                  </m:oMathPara>
                </a14:m>
                <a:endParaRPr lang="en-ID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8B47E99-0745-B832-9DA3-986419D02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9" y="5090337"/>
                <a:ext cx="3860221" cy="9017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411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40FD8-8A10-D8E2-DA0D-2FA7B71DC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C8113-F0EA-0C45-FA01-2CA69408C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603551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PENYELESAIAN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626BAE4-4F71-9950-81C0-0931510347ED}"/>
              </a:ext>
            </a:extLst>
          </p:cNvPr>
          <p:cNvSpPr txBox="1">
            <a:spLocks/>
          </p:cNvSpPr>
          <p:nvPr/>
        </p:nvSpPr>
        <p:spPr>
          <a:xfrm>
            <a:off x="238991" y="800100"/>
            <a:ext cx="11648208" cy="54448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Kesimpulan:</a:t>
            </a:r>
          </a:p>
          <a:p>
            <a:pPr algn="just"/>
            <a:endParaRPr lang="it-IT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Nilai preferensi tertinggi adalah:</a:t>
            </a:r>
          </a:p>
          <a:p>
            <a:pPr algn="just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B: 0.2662</a:t>
            </a:r>
          </a:p>
          <a:p>
            <a:pPr algn="just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Maka, Supplier B adalah pilihan terbaik menurut metode Weighted Product.</a:t>
            </a:r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530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3595</TotalTime>
  <Words>641</Words>
  <Application>Microsoft Office PowerPoint</Application>
  <PresentationFormat>Widescreen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6_Office Theme</vt:lpstr>
      <vt:lpstr>7_Office Theme</vt:lpstr>
      <vt:lpstr>4_Office Theme</vt:lpstr>
      <vt:lpstr>3_Office Theme</vt:lpstr>
      <vt:lpstr>2_Office Theme</vt:lpstr>
      <vt:lpstr>5_Office Theme</vt:lpstr>
      <vt:lpstr>1_Office Theme</vt:lpstr>
      <vt:lpstr>SISTEM PENDUKUNG KEPUTUSAN</vt:lpstr>
      <vt:lpstr>METODE WEIGHTED PRODUCT (WP)</vt:lpstr>
      <vt:lpstr>METODE WEIGHTED PRODUCT (WP)</vt:lpstr>
      <vt:lpstr>METODE WEIGHTED PRODUCT (WP)</vt:lpstr>
      <vt:lpstr>METODE WEIGHTED PRODUCT (WP)</vt:lpstr>
      <vt:lpstr>METODE WEIGHTED PRODUCT (WP)</vt:lpstr>
      <vt:lpstr>STUDI KASUS</vt:lpstr>
      <vt:lpstr>STUDI KASUS</vt:lpstr>
      <vt:lpstr>PENYELESAIAN</vt:lpstr>
      <vt:lpstr>PENYELESAIAN</vt:lpstr>
      <vt:lpstr>PENYELESAIAN</vt:lpstr>
      <vt:lpstr>PENYELESAIAN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Zahra Sanjaya</cp:lastModifiedBy>
  <cp:revision>89</cp:revision>
  <dcterms:created xsi:type="dcterms:W3CDTF">2021-08-16T10:58:02Z</dcterms:created>
  <dcterms:modified xsi:type="dcterms:W3CDTF">2026-04-26T13:53:02Z</dcterms:modified>
</cp:coreProperties>
</file>