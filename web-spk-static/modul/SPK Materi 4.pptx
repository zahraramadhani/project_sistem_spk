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sldIdLst>
    <p:sldId id="258" r:id="rId8"/>
    <p:sldId id="275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302" r:id="rId18"/>
    <p:sldId id="299" r:id="rId19"/>
    <p:sldId id="300" r:id="rId20"/>
    <p:sldId id="301" r:id="rId21"/>
    <p:sldId id="269" r:id="rId22"/>
    <p:sldId id="270" r:id="rId23"/>
    <p:sldId id="27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64" autoAdjust="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1204467"/>
            <a:ext cx="3127664" cy="2796033"/>
          </a:xfrm>
        </p:spPr>
        <p:txBody>
          <a:bodyPr>
            <a:normAutofit/>
          </a:bodyPr>
          <a:lstStyle/>
          <a:p>
            <a:r>
              <a:rPr lang="en-US" b="1" dirty="0"/>
              <a:t>SISTEM PENDUKUNG KEPUTUSAN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1F463-831F-930D-6D1D-F53CAFF16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654" y="1204467"/>
            <a:ext cx="8825345" cy="5152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9274EA-6AC8-5C44-40C7-50DAE8016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6" r="61106" b="71280"/>
          <a:stretch/>
        </p:blipFill>
        <p:spPr>
          <a:xfrm>
            <a:off x="3366653" y="1204467"/>
            <a:ext cx="3917374" cy="1621859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0ED0E06D-93C7-E3DA-CE23-E2EF1E934607}"/>
              </a:ext>
            </a:extLst>
          </p:cNvPr>
          <p:cNvSpPr txBox="1">
            <a:spLocks/>
          </p:cNvSpPr>
          <p:nvPr/>
        </p:nvSpPr>
        <p:spPr>
          <a:xfrm>
            <a:off x="0" y="5653532"/>
            <a:ext cx="3678382" cy="703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070C0"/>
                </a:solidFill>
              </a:rPr>
              <a:t>Kecitaan Harefa, </a:t>
            </a:r>
            <a:r>
              <a:rPr lang="en-US" sz="2000" b="1" dirty="0" err="1">
                <a:solidFill>
                  <a:srgbClr val="0070C0"/>
                </a:solidFill>
              </a:rPr>
              <a:t>S.Kom</a:t>
            </a:r>
            <a:r>
              <a:rPr lang="en-US" sz="2000" b="1" dirty="0">
                <a:solidFill>
                  <a:srgbClr val="0070C0"/>
                </a:solidFill>
              </a:rPr>
              <a:t>., </a:t>
            </a:r>
            <a:r>
              <a:rPr lang="en-US" sz="2000" b="1" dirty="0" err="1">
                <a:solidFill>
                  <a:srgbClr val="0070C0"/>
                </a:solidFill>
              </a:rPr>
              <a:t>M.Kom</a:t>
            </a:r>
            <a:r>
              <a:rPr lang="en-US" sz="2000" b="1" dirty="0">
                <a:solidFill>
                  <a:srgbClr val="0070C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436C-BE08-BF5A-B6AE-DB3A86BB0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SIMPLE ADDITIVE WEIGHTING (SAW) 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D9C3A8-44F5-247F-988F-93DEB6F59290}"/>
              </a:ext>
            </a:extLst>
          </p:cNvPr>
          <p:cNvSpPr txBox="1">
            <a:spLocks/>
          </p:cNvSpPr>
          <p:nvPr/>
        </p:nvSpPr>
        <p:spPr>
          <a:xfrm>
            <a:off x="2421081" y="1444336"/>
            <a:ext cx="9466117" cy="474864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Konsep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SAW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mencari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penjumlahan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terbobot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kinerja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SAW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membutuhkan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normalisasi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matriks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(X)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skala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diperbandingkan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SAW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mengenal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(dua)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keuntungan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(benefit) dan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(cost).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Perbedaan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mendasar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kedua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pemilihan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mengambil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4DB769-717A-368D-28B3-209BCBF9DAAE}"/>
              </a:ext>
            </a:extLst>
          </p:cNvPr>
          <p:cNvSpPr txBox="1">
            <a:spLocks/>
          </p:cNvSpPr>
          <p:nvPr/>
        </p:nvSpPr>
        <p:spPr>
          <a:xfrm>
            <a:off x="1" y="2107117"/>
            <a:ext cx="28367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Pengertian</a:t>
            </a:r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9EFB70-C133-EA09-9E37-26D7E523D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43" y="3084997"/>
            <a:ext cx="1865376" cy="1865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6BD2BF-5607-0E54-4DAC-AA5BA5A70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92" b="79691"/>
          <a:stretch/>
        </p:blipFill>
        <p:spPr>
          <a:xfrm>
            <a:off x="1142585" y="4244574"/>
            <a:ext cx="894034" cy="37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86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D479-6DFB-3F3D-0555-07063ADDC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DDB4-B785-B6D1-CE1E-CE2142BC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SIMPLE ADDITIVE WEIGHTING (SAW) 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0EFC59-CC84-05D6-1CFB-DBEA1C655976}"/>
              </a:ext>
            </a:extLst>
          </p:cNvPr>
          <p:cNvSpPr txBox="1">
            <a:spLocks/>
          </p:cNvSpPr>
          <p:nvPr/>
        </p:nvSpPr>
        <p:spPr>
          <a:xfrm>
            <a:off x="2036619" y="1444336"/>
            <a:ext cx="9850580" cy="474864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kriteria-kriteria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dijadikan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pengambilan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kecocokan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matriks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(Ci),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normalisasi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matriks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persamaan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disesuaikan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jenis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keuntungan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ataupun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diperoleh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matriks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ternormalisasi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Hasil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akhir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diperoleh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perankingan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penjumlahan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perkalian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matriks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ternormalisasi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vektor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diperoleh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terbesar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dipilih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(Ai)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F15E7C-6396-D0C7-74D2-474F18D611BD}"/>
              </a:ext>
            </a:extLst>
          </p:cNvPr>
          <p:cNvSpPr txBox="1">
            <a:spLocks/>
          </p:cNvSpPr>
          <p:nvPr/>
        </p:nvSpPr>
        <p:spPr>
          <a:xfrm>
            <a:off x="1" y="2107117"/>
            <a:ext cx="28367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435B69-FDDA-CF27-BA3E-111F39BD8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43" y="3548288"/>
            <a:ext cx="1865376" cy="1865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A561F9-9327-CED0-8FD5-4D63A7642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92" b="79691"/>
          <a:stretch/>
        </p:blipFill>
        <p:spPr>
          <a:xfrm>
            <a:off x="1142585" y="4680467"/>
            <a:ext cx="894034" cy="37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10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164E6-B5AB-7DE1-B340-CAD74922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5E16E-3CCF-9DB6-E052-25D5C59B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SIMPLE ADDITIVE WEIGHTING (SAW) 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D2F536-5002-1345-4207-1C7DE089ED5A}"/>
              </a:ext>
            </a:extLst>
          </p:cNvPr>
          <p:cNvSpPr txBox="1">
            <a:spLocks/>
          </p:cNvSpPr>
          <p:nvPr/>
        </p:nvSpPr>
        <p:spPr>
          <a:xfrm>
            <a:off x="238991" y="1205346"/>
            <a:ext cx="11648208" cy="51954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Persamaan untuk melakukan normalisasi adalah: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C0EC5E-D532-01D0-8257-7826C2288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92" b="79691"/>
          <a:stretch/>
        </p:blipFill>
        <p:spPr>
          <a:xfrm>
            <a:off x="1142585" y="4680467"/>
            <a:ext cx="894034" cy="3788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261849-5CD5-0997-14D0-1136D5A67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256" t="35303" r="43920" b="50000"/>
          <a:stretch/>
        </p:blipFill>
        <p:spPr>
          <a:xfrm>
            <a:off x="135081" y="1831624"/>
            <a:ext cx="2722418" cy="207932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D8A8680-84A2-388E-E8A6-46C6805D9C74}"/>
              </a:ext>
            </a:extLst>
          </p:cNvPr>
          <p:cNvSpPr txBox="1">
            <a:spLocks/>
          </p:cNvSpPr>
          <p:nvPr/>
        </p:nvSpPr>
        <p:spPr>
          <a:xfrm>
            <a:off x="3106882" y="1795173"/>
            <a:ext cx="8711046" cy="42315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Keterangan:  </a:t>
            </a: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i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rating kinerja ternormalisasi  </a:t>
            </a: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fi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nilai maksimum dari setiap baris dan kolom  </a:t>
            </a: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nilai minimum dari setiap baris dan kolom  </a:t>
            </a: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i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baris dan kolom dari matriks 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D7885-FEF0-0E19-A110-37300C64D82D}"/>
              </a:ext>
            </a:extLst>
          </p:cNvPr>
          <p:cNvSpPr txBox="1"/>
          <p:nvPr/>
        </p:nvSpPr>
        <p:spPr>
          <a:xfrm>
            <a:off x="374072" y="4322161"/>
            <a:ext cx="114438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kinerja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ternormalisasi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pada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Cj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2,…, m dan j = 1, 2,…, n.</a:t>
            </a:r>
          </a:p>
        </p:txBody>
      </p:sp>
    </p:spTree>
    <p:extLst>
      <p:ext uri="{BB962C8B-B14F-4D97-AF65-F5344CB8AC3E}">
        <p14:creationId xmlns:p14="http://schemas.microsoft.com/office/powerpoint/2010/main" val="1601404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52F3-15A2-F353-6FF8-E24A456C4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43D4-683D-D5F9-983F-E1F7DEC0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SIMPLE ADDITIVE WEIGHTING (SAW) 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2D4D50-23D7-D77D-CAE7-9C2C920BCFE2}"/>
              </a:ext>
            </a:extLst>
          </p:cNvPr>
          <p:cNvSpPr txBox="1">
            <a:spLocks/>
          </p:cNvSpPr>
          <p:nvPr/>
        </p:nvSpPr>
        <p:spPr>
          <a:xfrm>
            <a:off x="238991" y="1205346"/>
            <a:ext cx="11648208" cy="51954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Nilai preferensi untuk setiap alternatif (V) diberikan Persamaan: 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B52D07-8B46-9670-3677-F077CFB0E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92" b="79691"/>
          <a:stretch/>
        </p:blipFill>
        <p:spPr>
          <a:xfrm>
            <a:off x="1142585" y="4680467"/>
            <a:ext cx="894034" cy="37883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3081E17-7F56-858D-04C6-46418608C016}"/>
              </a:ext>
            </a:extLst>
          </p:cNvPr>
          <p:cNvSpPr txBox="1">
            <a:spLocks/>
          </p:cNvSpPr>
          <p:nvPr/>
        </p:nvSpPr>
        <p:spPr>
          <a:xfrm>
            <a:off x="3106882" y="1795173"/>
            <a:ext cx="8711046" cy="42315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Keterangan:  </a:t>
            </a: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Nilai akhir dari alternatif </a:t>
            </a: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fi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Bobot yang telah ditentukan  </a:t>
            </a:r>
          </a:p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i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 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Normalisasi matriks 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E6686-F772-9388-684B-63562D22D335}"/>
              </a:ext>
            </a:extLst>
          </p:cNvPr>
          <p:cNvSpPr txBox="1"/>
          <p:nvPr/>
        </p:nvSpPr>
        <p:spPr>
          <a:xfrm>
            <a:off x="374072" y="4322161"/>
            <a:ext cx="114438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Nilai V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mengindikasikan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terpilih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EEBE4-1EDA-07BE-CB5B-1D15CB0761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98" t="48333" r="40340" b="39933"/>
          <a:stretch/>
        </p:blipFill>
        <p:spPr>
          <a:xfrm>
            <a:off x="332507" y="2088802"/>
            <a:ext cx="2277141" cy="12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3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91928-F136-22FD-7B1C-E1D3A99F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A8923-592A-3C48-83F3-9CBD9CEBA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 KASUS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40F80D-EE65-8C38-9214-B551A8AC0468}"/>
              </a:ext>
            </a:extLst>
          </p:cNvPr>
          <p:cNvSpPr txBox="1">
            <a:spLocks/>
          </p:cNvSpPr>
          <p:nvPr/>
        </p:nvSpPr>
        <p:spPr>
          <a:xfrm>
            <a:off x="238991" y="1205346"/>
            <a:ext cx="11648208" cy="5039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Sebuah perusahaan marketing yang bergerak di bidang perangkat teknologi ingin ekspansi dan mengembangkan pangsa pasar di berbagai daerah. Adapun perangkat teknologi yang sedang dianalisis yaitu handphone. Ada 5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tipe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handphone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dianalisis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sejauh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serap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konsumen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tipe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handphone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handphone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HP1, HP2, HP3, HP4 dan HP5. Adapun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faktor-faktor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dijadikan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Harga, Kamera, Memori, Berat, dan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Keunikan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9038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482A-115C-B978-59AC-B6F21AA8F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E6A00-BAED-0F4F-2C90-86D3C7F0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50"/>
            <a:ext cx="10990118" cy="80097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 KASUS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B5D02E9-E807-E28E-4584-7FE8CFFAAD1F}"/>
              </a:ext>
            </a:extLst>
          </p:cNvPr>
          <p:cNvSpPr txBox="1">
            <a:spLocks/>
          </p:cNvSpPr>
          <p:nvPr/>
        </p:nvSpPr>
        <p:spPr>
          <a:xfrm>
            <a:off x="238991" y="893619"/>
            <a:ext cx="11648208" cy="5153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Harga (C1): Dalam jutaan Rupiah (semakin rendah semakin baik - </a:t>
            </a:r>
            <a:r>
              <a:rPr lang="fi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Kamera (C2): Skor kualitas kamera berdasarkan review ahli (skala 1-10, semakin tinggi semakin baik - </a:t>
            </a:r>
            <a:r>
              <a:rPr lang="fi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Memori (C3): Total RAM + Penyimpanan Internal dalam GB (semakin tinggi semakin baik - </a:t>
            </a:r>
            <a:r>
              <a:rPr lang="fi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Berat (C4): Dalam gram (semakin rendah semakin baik - </a:t>
            </a:r>
            <a:r>
              <a:rPr lang="fi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Keunikan (C5): Skor fitur unik dan inovatif (skala 1-5, semakin tinggi semakin baik - </a:t>
            </a:r>
            <a:r>
              <a:rPr lang="fi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</a:t>
            </a:r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923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5CBB3-E927-E5D9-E9A5-29C7F4B7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5C0C-A37F-048C-012F-CB77197F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 KASUS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6C7463-7B2E-64DF-E64F-B1F4E621F047}"/>
              </a:ext>
            </a:extLst>
          </p:cNvPr>
          <p:cNvSpPr txBox="1">
            <a:spLocks/>
          </p:cNvSpPr>
          <p:nvPr/>
        </p:nvSpPr>
        <p:spPr>
          <a:xfrm>
            <a:off x="238991" y="1254548"/>
            <a:ext cx="11648208" cy="15509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Bobot Preferensi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FC3DF3-FA3E-8A41-931D-9AEE872DB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895994"/>
            <a:ext cx="5744528" cy="269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10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4C878-F996-EE6C-262E-3A80E572D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43DC5-CB7C-651E-12A7-9FE7B7029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 KASUS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DB8A37-FAA7-3CD8-14D2-20686EC588D1}"/>
              </a:ext>
            </a:extLst>
          </p:cNvPr>
          <p:cNvSpPr txBox="1">
            <a:spLocks/>
          </p:cNvSpPr>
          <p:nvPr/>
        </p:nvSpPr>
        <p:spPr>
          <a:xfrm>
            <a:off x="238991" y="1254548"/>
            <a:ext cx="11648208" cy="15509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kinerja dari kelima kandidat handphone pada setiap kriteria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BEEE6-E69E-F41F-01D3-3FBC71BD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17" y="1932708"/>
            <a:ext cx="10348517" cy="323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7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D270-DF21-767F-6E4A-EF912E8D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3311-5DE3-A203-6181-597198B9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PENYELESAIAN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D41EF8E-F698-B3F4-4FBE-DDCAEBBA76D5}"/>
              </a:ext>
            </a:extLst>
          </p:cNvPr>
          <p:cNvSpPr txBox="1">
            <a:spLocks/>
          </p:cNvSpPr>
          <p:nvPr/>
        </p:nvSpPr>
        <p:spPr>
          <a:xfrm>
            <a:off x="238991" y="1254548"/>
            <a:ext cx="11648208" cy="29720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Normalisasi Matriks Keputusan:</a:t>
            </a:r>
          </a:p>
          <a:p>
            <a:pPr algn="just"/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Benefit (C2, C3, C5)</a:t>
            </a:r>
          </a:p>
          <a:p>
            <a:pPr algn="just"/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(C1, C4):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A65D16-0C1B-C3D6-9245-EA81C2BF5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56" t="35303" r="43920" b="50000"/>
          <a:stretch/>
        </p:blipFill>
        <p:spPr>
          <a:xfrm>
            <a:off x="5662521" y="1122219"/>
            <a:ext cx="2630577" cy="20091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C48263-6573-77E4-AA83-7CF841C86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133724"/>
            <a:ext cx="9696449" cy="302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2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6E4DE-1815-235F-C53E-8F964D87B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839B-A9E7-533E-D20A-C1BDBBD6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1" y="196549"/>
            <a:ext cx="109901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PENYELESAIAN</a:t>
            </a:r>
            <a:endParaRPr lang="en-ID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6DC354-4441-C803-79E1-DEA26790260C}"/>
              </a:ext>
            </a:extLst>
          </p:cNvPr>
          <p:cNvSpPr txBox="1">
            <a:spLocks/>
          </p:cNvSpPr>
          <p:nvPr/>
        </p:nvSpPr>
        <p:spPr>
          <a:xfrm>
            <a:off x="238991" y="1254548"/>
            <a:ext cx="11648208" cy="29720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Normalisasi Matriks Keputusan:</a:t>
            </a:r>
          </a:p>
          <a:p>
            <a:pPr algn="just"/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Benefit (C2, C3, C5)</a:t>
            </a:r>
          </a:p>
          <a:p>
            <a:pPr algn="just"/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(C1, C4):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387B9-ABE3-FF03-EF1C-7BB33F5ED7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56" t="35303" r="43920" b="50000"/>
          <a:stretch/>
        </p:blipFill>
        <p:spPr>
          <a:xfrm>
            <a:off x="5487554" y="1254548"/>
            <a:ext cx="2492664" cy="1903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92310B-D611-1F48-A261-7F84129FE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3158392"/>
            <a:ext cx="10301458" cy="3107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E85A0E-CADD-E95F-8269-601EDB2AA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396" y="196548"/>
            <a:ext cx="3485499" cy="16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4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BA3B2-A6E1-4280-EAC1-8D4942962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0391B6C-9A75-AADE-0CAA-DE06772B86DE}"/>
              </a:ext>
            </a:extLst>
          </p:cNvPr>
          <p:cNvSpPr txBox="1">
            <a:spLocks/>
          </p:cNvSpPr>
          <p:nvPr/>
        </p:nvSpPr>
        <p:spPr>
          <a:xfrm>
            <a:off x="172316" y="410331"/>
            <a:ext cx="11648208" cy="6695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Menghitung Nilai Akhir (Skor) untuk Setiap Alternatif: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F28796-23E8-96ED-A452-8E0D8D977C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98" t="48333" r="40340" b="39933"/>
          <a:stretch/>
        </p:blipFill>
        <p:spPr>
          <a:xfrm>
            <a:off x="9334500" y="182349"/>
            <a:ext cx="1909329" cy="10714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F6FCBBF-0DB6-5A2D-AF0E-73F5932FDEDF}"/>
              </a:ext>
            </a:extLst>
          </p:cNvPr>
          <p:cNvSpPr txBox="1">
            <a:spLocks/>
          </p:cNvSpPr>
          <p:nvPr/>
        </p:nvSpPr>
        <p:spPr>
          <a:xfrm>
            <a:off x="172316" y="963778"/>
            <a:ext cx="11648208" cy="53798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HP1 (A1):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(0.30×0.83)+(0.25×0.89)+(0.20×0.25)+(0.15×0.89)+(0.10×0.80)=0.249+0.2225+0.05+0.1335+0.08=0.74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HP2 (A2):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(0.30×0.63)+(0.25×1.00)+(0.20×0.50)+(0.15×0.80)+(0.10×0.60)=0.189+0.25+0.10+0.12+0.06=0.72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HP3 (A3):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(0.30×1.00)+(0.25×0.78)+(0.20×0.25)+(0.15×1.00)+(0.10×0.40)=0.30+0.195+0.05+0.15+0.04=0.73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HP4 (A4):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(0.30×0.71)+(0.25×0.89)+(0.20×0.38)+(0.15×0.94)+(0.10×1.00)=0.213+0.2225+0.076+0.141+0.10=0.75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HP5 (A5):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(0.30×0.56)+(0.25×0.67)+(0.20×1.00)+(0.15×0.73)+(0.10×0.60)=0.168+0.1675+0.20+0.1095+0.06=0.70</a:t>
            </a: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465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7E5C1-42A1-4716-484E-253D506CC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3A85EFF-AFF6-3B56-54AC-4357CAA918F4}"/>
              </a:ext>
            </a:extLst>
          </p:cNvPr>
          <p:cNvSpPr txBox="1">
            <a:spLocks/>
          </p:cNvSpPr>
          <p:nvPr/>
        </p:nvSpPr>
        <p:spPr>
          <a:xfrm>
            <a:off x="172316" y="718074"/>
            <a:ext cx="11648208" cy="6695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Menghitung Nilai Akhir (Skor) untuk Setiap Alternatif: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3BF32-A933-F689-5604-B6C0D00F9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98" t="48333" r="40340" b="39933"/>
          <a:stretch/>
        </p:blipFill>
        <p:spPr>
          <a:xfrm>
            <a:off x="9353550" y="468099"/>
            <a:ext cx="1909329" cy="1071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029D2D-FBF7-F4EB-528A-B4172F706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00" y="1387575"/>
            <a:ext cx="11481112" cy="28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48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21194-5A9A-7B7F-C09F-3A424057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3F41E94-3E55-7F30-EEC5-C2BD6736EBE2}"/>
              </a:ext>
            </a:extLst>
          </p:cNvPr>
          <p:cNvSpPr txBox="1">
            <a:spLocks/>
          </p:cNvSpPr>
          <p:nvPr/>
        </p:nvSpPr>
        <p:spPr>
          <a:xfrm>
            <a:off x="305666" y="1308624"/>
            <a:ext cx="4199659" cy="6695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fi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Perankingan Alternatif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BF9A1-E2F1-F6A5-29A4-F43A22CE6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25" y="513453"/>
            <a:ext cx="2554606" cy="2259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FF91DD-0202-508B-1511-715DD5276A83}"/>
              </a:ext>
            </a:extLst>
          </p:cNvPr>
          <p:cNvSpPr txBox="1"/>
          <p:nvPr/>
        </p:nvSpPr>
        <p:spPr>
          <a:xfrm>
            <a:off x="171883" y="2805117"/>
            <a:ext cx="1184823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Kesimpulan:</a:t>
            </a:r>
            <a:endParaRPr lang="en-ID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SAW dan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diberikan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HP4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pilihan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Hasil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didapatkan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mempertimbangkan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preferensi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kamera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berat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unik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handphone</a:t>
            </a:r>
          </a:p>
        </p:txBody>
      </p:sp>
    </p:spTree>
    <p:extLst>
      <p:ext uri="{BB962C8B-B14F-4D97-AF65-F5344CB8AC3E}">
        <p14:creationId xmlns:p14="http://schemas.microsoft.com/office/powerpoint/2010/main" val="555264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3367</TotalTime>
  <Words>690</Words>
  <Application>Microsoft Office PowerPoint</Application>
  <PresentationFormat>Widescreen</PresentationFormat>
  <Paragraphs>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SISTEM PENDUKUNG KEPUTUSAN</vt:lpstr>
      <vt:lpstr>METODE SIMPLE ADDITIVE WEIGHTING (SAW) </vt:lpstr>
      <vt:lpstr>METODE SIMPLE ADDITIVE WEIGHTING (SAW) </vt:lpstr>
      <vt:lpstr>METODE SIMPLE ADDITIVE WEIGHTING (SAW) </vt:lpstr>
      <vt:lpstr>METODE SIMPLE ADDITIVE WEIGHTING (SAW) </vt:lpstr>
      <vt:lpstr>STUDI KASUS</vt:lpstr>
      <vt:lpstr>STUDI KASUS</vt:lpstr>
      <vt:lpstr>STUDI KASUS</vt:lpstr>
      <vt:lpstr>STUDI KASUS</vt:lpstr>
      <vt:lpstr>PENYELESAIAN</vt:lpstr>
      <vt:lpstr>PENYELESAIAN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Zahra Sanjaya</cp:lastModifiedBy>
  <cp:revision>74</cp:revision>
  <dcterms:created xsi:type="dcterms:W3CDTF">2021-08-16T10:58:02Z</dcterms:created>
  <dcterms:modified xsi:type="dcterms:W3CDTF">2026-04-26T13:50:21Z</dcterms:modified>
</cp:coreProperties>
</file>